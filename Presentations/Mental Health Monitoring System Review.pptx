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F1-macro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15B6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0.4406</c:v>
                </c:pt>
                <c:pt idx="1">
                  <c:v>0.4667</c:v>
                </c:pt>
                <c:pt idx="2">
                  <c:v>0.4796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15B6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2"/>
          <c:min val="0.4"/>
        </c:scaling>
        <c:delete val="0"/>
        <c:axPos val="l"/>
        <c:majorGridlines>
          <c:spPr>
            <a:ln w="9525" cap="flat">
              <a:solidFill>
                <a:srgbClr val="DC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AF9"/>
        </a:solidFill>
        <a:ln>
          <a:noFill/>
        </a:ln>
        <a:effectLst/>
      </c:spPr>
    </c:plotArea>
    <c:plotVisOnly val="1"/>
    <c:dispBlanksAs val="span"/>
  </c:chart>
  <c:spPr>
    <a:solidFill>
      <a:srgbClr val="F4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B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PROGRESS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Health Monitoring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via Text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emotion, category &amp; severity detection from text — with a graph-attention explainability layer and an auditable LLM reporting stage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709160"/>
            <a:ext cx="10972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Training Pipeline, Architecture &amp; Phase-1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text-based mental health tools get wrong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asset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9842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196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is treated as monolithic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560320"/>
            <a:ext cx="4489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Sentiment-only models can't tell grief from anger or fear — all read simply as "negative."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asset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842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196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clinically grounded severity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19088" y="2560320"/>
            <a:ext cx="4489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classifiers output categories, not a validated severity number a clinician would recognise.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370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assets/puzz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4988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342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word-level explainability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2688" y="5074920"/>
            <a:ext cx="4489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models flag "depression" without showing which words or phrases drove the decision.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411480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370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assets/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49884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3342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text exposed to the LLM layer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19088" y="5074920"/>
            <a:ext cx="4489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tools pass raw user text straight to a generative model, with no auditable intermediate record.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Monitoring System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5B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deliver by the end of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assets/targe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5819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Multi-task classification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5819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emotion (multi-label), mental-health category, and a PHQ-8-style severity score from a single piece of text.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assets/sitemap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688336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514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attention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54880" y="25146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Graph Attention Network over dependency structure so predictions can be traced back to specific words.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assets/lay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2102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3447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Staged, stable training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54880" y="34472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four deliberate phases — backbone fine-tuning, GAT training, joint multi-task training, LLM layer — instead of one unstable end-to-end run.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assets/shiel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55371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53312" y="43799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Auditable, privacy-aware output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754880" y="437997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classifier and the language model with a structured JSON payload, never raw user text, so every generated report is traceable.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37667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4" descr="assets/clipboar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486400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53312" y="53126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grounding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754880" y="531266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severity predictions against real PHQ-8-scored clinical interviews (DAIC-WOZ), not only social-media proxies.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Monitoring System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path — raw text to clinical-style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032345" cy="868680"/>
          </a:xfrm>
          <a:prstGeom prst="roundRect">
            <a:avLst>
              <a:gd name="adj" fmla="val 736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1940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Text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947672"/>
            <a:ext cx="19409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user text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35265" y="1769364"/>
            <a:ext cx="237744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8" name="Shape 6"/>
          <p:cNvSpPr/>
          <p:nvPr/>
        </p:nvSpPr>
        <p:spPr>
          <a:xfrm>
            <a:off x="2791297" y="1417320"/>
            <a:ext cx="2032345" cy="868680"/>
          </a:xfrm>
          <a:prstGeom prst="roundRect">
            <a:avLst>
              <a:gd name="adj" fmla="val 7368"/>
            </a:avLst>
          </a:prstGeom>
          <a:solidFill>
            <a:srgbClr val="015B67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7017" y="1508760"/>
            <a:ext cx="1940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7017" y="1947672"/>
            <a:ext cx="19409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23643" y="1769364"/>
            <a:ext cx="237744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9675" y="1417320"/>
            <a:ext cx="2032345" cy="868680"/>
          </a:xfrm>
          <a:prstGeom prst="roundRect">
            <a:avLst>
              <a:gd name="adj" fmla="val 736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5395" y="1508760"/>
            <a:ext cx="1940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5395" y="1947672"/>
            <a:ext cx="19409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embeddings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12020" y="1769364"/>
            <a:ext cx="237744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8052" y="1417320"/>
            <a:ext cx="2032345" cy="868680"/>
          </a:xfrm>
          <a:prstGeom prst="roundRect">
            <a:avLst>
              <a:gd name="adj" fmla="val 7368"/>
            </a:avLst>
          </a:prstGeom>
          <a:solidFill>
            <a:srgbClr val="015B67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13772" y="1508760"/>
            <a:ext cx="1940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13772" y="1947672"/>
            <a:ext cx="19409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spaCy dep. graph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00398" y="1769364"/>
            <a:ext cx="237744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56430" y="1417320"/>
            <a:ext cx="2032345" cy="868680"/>
          </a:xfrm>
          <a:prstGeom prst="roundRect">
            <a:avLst>
              <a:gd name="adj" fmla="val 7368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02150" y="1508760"/>
            <a:ext cx="1940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Heads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02150" y="1947672"/>
            <a:ext cx="19409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/ Category / Severity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30892" y="640080"/>
            <a:ext cx="2306665" cy="502920"/>
          </a:xfrm>
          <a:prstGeom prst="roundRect">
            <a:avLst>
              <a:gd name="adj" fmla="val 10909"/>
            </a:avLst>
          </a:prstGeom>
          <a:solidFill>
            <a:srgbClr val="F4FAF9"/>
          </a:solidFill>
          <a:ln w="9525">
            <a:solidFill>
              <a:srgbClr val="5C7A80"/>
            </a:solidFill>
            <a:prstDash val="solid"/>
          </a:ln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30892" y="640080"/>
            <a:ext cx="230666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dependency parse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01929" y="1124712"/>
            <a:ext cx="164592" cy="274320"/>
          </a:xfrm>
          <a:prstGeom prst="downArrow">
            <a:avLst/>
          </a:prstGeom>
          <a:solidFill>
            <a:srgbClr val="5C7A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85855" y="2340864"/>
            <a:ext cx="164592" cy="292608"/>
          </a:xfrm>
          <a:prstGeom prst="downArrow">
            <a:avLst/>
          </a:prstGeom>
          <a:solidFill>
            <a:srgbClr val="5C7A80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9928" y="306324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9F7F3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pic>
        <p:nvPicPr>
          <p:cNvPr id="28" name="Image 0" descr="assets/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4520" y="3200400"/>
            <a:ext cx="347472" cy="34747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044288" y="306324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payload — labels, scores, risk flags (no raw text)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13552" y="3739896"/>
            <a:ext cx="164592" cy="292608"/>
          </a:xfrm>
          <a:prstGeom prst="downArrow">
            <a:avLst/>
          </a:prstGeom>
          <a:solidFill>
            <a:srgbClr val="5C7A80"/>
          </a:solidFill>
          <a:ln/>
        </p:spPr>
      </p:sp>
      <p:sp>
        <p:nvSpPr>
          <p:cNvPr id="31" name="Shape 28"/>
          <p:cNvSpPr/>
          <p:nvPr/>
        </p:nvSpPr>
        <p:spPr>
          <a:xfrm>
            <a:off x="2529688" y="4187952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015B67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2529688" y="42611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Layer (Groq)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666848" y="46268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system — never trains on classifier data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638648" y="4539996"/>
            <a:ext cx="384048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35" name="Shape 32"/>
          <p:cNvSpPr/>
          <p:nvPr/>
        </p:nvSpPr>
        <p:spPr>
          <a:xfrm>
            <a:off x="6553048" y="4187952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553048" y="41879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Report, Coping Strategies,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 Alert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40080" y="64008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(steps 1–5) and LLM (step 6) train separately and connect only through the JSON payload.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Pipeline — Four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trains a different part of the model, in a fixed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7647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18488" y="1764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 Fine-tuning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0815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Dreaddit → GoEmotions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35935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Mental-RoBERTa (nothing frozen)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417880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on binary stress, then 27-class emotion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3049524"/>
            <a:ext cx="164592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5087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1688" y="17647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361688" y="1764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249631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Attention Network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4448" y="30815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PRIMATE (2024)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84448" y="35935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layers only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84448" y="417880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backbone fully frozen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3049524"/>
            <a:ext cx="164592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5087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04888" y="176479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104888" y="1764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49631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Multi-task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30815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DepressionEmo + DAIC-WOZ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35935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heads + GAT + Transformer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417880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loss — each batch uses only the labels its dataset has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0" y="3049524"/>
            <a:ext cx="164592" cy="164592"/>
          </a:xfrm>
          <a:prstGeom prst="rightArrow">
            <a:avLst/>
          </a:prstGeom>
          <a:solidFill>
            <a:srgbClr val="5C7A80"/>
          </a:solidFill>
          <a:ln/>
        </p:spPr>
      </p:sp>
      <p:sp>
        <p:nvSpPr>
          <p:cNvPr id="28" name="Shape 26"/>
          <p:cNvSpPr/>
          <p:nvPr/>
        </p:nvSpPr>
        <p:spPr>
          <a:xfrm>
            <a:off x="8869680" y="15087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48088" y="17647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9848088" y="1764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052560" y="249631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Layer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70848" y="30815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IMHI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70848" y="35935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Trains: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logic (+ optional fine-tune)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70848" y="417880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classifier pipeline frozen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4983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loaded from mental/mental-roberta-base (HuggingFace) — never trained from scratch.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Monitoring System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datasets, six distinct jobs — none of them interchangeable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3840480"/>
                <a:gridCol w="100584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B6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GoEmotions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 head (pre-train)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Dreaddit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 Category head (warm-up)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PRIMATE 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 edge weights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DepressionEmo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 + MH head (fine-tune)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DAIC-WOZ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 sessions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head (PHQ-8)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layer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15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DAIC-WOZ is the only dataset with a continuous, clinically validated severity score (PHQ-8, 0–24) — request the data-use agreement first.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Monitoring System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Output — Phase 1 Complete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Mental-RoBERTa fine-tuned on Dreaddit, then GoEmotions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015B67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5506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350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Test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(final)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18211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015B67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3284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2,412 / 426 / 715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9593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Dreaddit train / val / test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split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855464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015B67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50017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epochs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56967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fine-tune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 GPU, ~36 min)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508760"/>
            <a:ext cx="7223760" cy="3063240"/>
          </a:xfrm>
          <a:prstGeom prst="roundRect">
            <a:avLst>
              <a:gd name="adj" fmla="val 238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B2B3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645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GoEmotions Validation F1-macro by Epoch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26280" y="2011680"/>
          <a:ext cx="67665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4297680" y="480060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E9F7F3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0" descr="asset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02005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0" y="48006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saved: mentalroberta_phase1_final — ready to serve as the frozen backbone for Phase 2 (GAT training).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Monitoring System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5B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assets/databa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562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1907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/ follow up on the DAIC-WOZ data-use agreement (5–10 day turnaround)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78892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assets/sitemap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9077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77063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Phase 2 — freeze the Phase-1 backbone, train the GAT on PRIMATE (2024 reannotated)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22960" y="384048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assets/lay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5935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82219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masked multi-task batches for Phase 3 (DepressionEmo + DAIC-WOZ)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" y="489204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3" descr="assets/robo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01091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487375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Phase 4 system prompt for the LLM layer using IMHI examples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Monitoring System via Text Analysis</dc:title>
  <dc:subject>PptxGenJS Presentation</dc:subject>
  <dc:creator>Project Team</dc:creator>
  <cp:lastModifiedBy>Project Team</cp:lastModifiedBy>
  <cp:revision>1</cp:revision>
  <dcterms:created xsi:type="dcterms:W3CDTF">2026-07-01T12:50:05Z</dcterms:created>
  <dcterms:modified xsi:type="dcterms:W3CDTF">2026-07-01T12:50:05Z</dcterms:modified>
</cp:coreProperties>
</file>